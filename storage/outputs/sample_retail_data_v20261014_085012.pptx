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Executive Intelligence: sample_retail_data.csv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Retail Sales and Operations</a:t>
            </a:r>
          </a:p>
          <a:p>
            <a:r>
              <a:t>Strategic Pivot Required: Addressing Severe Revenue Contraction and Margin Erosion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Performance Indicators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Total Gross Sales (Revenue): 6,415.00 Currency</a:t>
            </a:r>
          </a:p>
          <a:p>
            <a:pPr>
              <a:defRPr sz="1600"/>
            </a:pPr>
            <a:r>
              <a:t>Total Net Profit (Profit): 522.00 Currency</a:t>
            </a:r>
          </a:p>
          <a:p>
            <a:pPr>
              <a:defRPr sz="1600"/>
            </a:pPr>
            <a:r>
              <a:t>Net Profit Margin Percentage (Profit): 8.14%</a:t>
            </a:r>
          </a:p>
          <a:p>
            <a:pPr>
              <a:defRPr sz="1600"/>
            </a:pPr>
            <a:r>
              <a:t>Average Discount Rate (Cost): 11.00%</a:t>
            </a:r>
          </a:p>
          <a:p>
            <a:pPr>
              <a:defRPr sz="1600"/>
            </a:pPr>
            <a:r>
              <a:t>Total Order Volume (Order): 10.00 Orders</a:t>
            </a:r>
          </a:p>
          <a:p>
            <a:pPr>
              <a:defRPr sz="1600"/>
            </a:pPr>
            <a:r>
              <a:t>Average Order Value (AOV) (Order): 641.50 Currency</a:t>
            </a:r>
          </a:p>
          <a:p>
            <a:pPr>
              <a:defRPr sz="1600"/>
            </a:pPr>
            <a:r>
              <a:t>Profit per Order (Profit): 52.20 Currency</a:t>
            </a:r>
          </a:p>
          <a:p>
            <a:pPr>
              <a:defRPr sz="1600"/>
            </a:pPr>
            <a:r>
              <a:t>Unique Product Count (Order): 10.00 Products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Summary: What &amp; Why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What Happened: The business recorded total gross sales of 6,415.00 with a net profit of 522.00, yielding a thin 8.14% margin. Most critically, the organization is experiencing a severe contraction, with revenue plummeting by 76.55% and profit declining by 52.65% over the analyzed period. While the Technology category drives 50% of volume, the overall financial health is deteriorating rapidly.</a:t>
            </a:r>
          </a:p>
          <a:p>
            <a:pPr>
              <a:defRPr sz="1600"/>
            </a:pPr>
            <a:r>
              <a:t>Why It Happened: The decline is primarily driven by an aggressive and inefficient discounting strategy, where an 11% average discount rate shows a strong negative correlation (-0.5765) with profitability. Furthermore, there is a near-zero correlation between transaction size and profit, indicating that the business is over-invested in high-value, low-margin SKUs that fail to benefit from economies of scale.</a:t>
            </a:r>
          </a:p>
          <a:p>
            <a:pPr>
              <a:defRPr sz="1600"/>
            </a:pPr>
            <a:r>
              <a:t>Business Impact: Operational efficiency is currently compromised, as evidenced by an Average Order Value of 641.50 returning only 52.20 in profit. The presence of significant loss-making transactions, with profits as low as -72.50, suggests that a portion of the portfolio is actively destroying shareholder value rather than contributing to growth.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Business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[High] Discount-Driven Revenue Erosion: Promotional activities are successfully driving top-line volume, but at a significant cost to the bottom line. The 11.00% average discount rate is inversely related to profitability, suggesting that current discounting tiers are crossing the threshold of marginal utility and eroding the net profit margin to 8.14%.</a:t>
            </a:r>
          </a:p>
          <a:p>
            <a:pPr>
              <a:defRPr sz="1600"/>
            </a:pPr>
            <a:r>
              <a:t>[Critical] Critical Revenue and Profit Contraction: The business is facing a severe contraction. Although profit is declining less sharply than sales (slope of -6.49 vs -19.36), the 76.55% drop in revenue indicates a potential loss of market share or a failing product-market fit that requires immediate strategic pivot.</a:t>
            </a:r>
          </a:p>
          <a:p>
            <a:pPr>
              <a:defRPr sz="1600"/>
            </a:pPr>
            <a:r>
              <a:t>[High] Inefficient Revenue Scaling: There is a near-zero correlation between transaction size and profitability, indicating that larger orders do not benefit from economies of scale. With an Average Order Value (AOV) of 641.50 but a Profit per Order of only 52.20, the business is likely over-investing in high-value, low-margin SKUs.</a:t>
            </a:r>
          </a:p>
          <a:p>
            <a:pPr>
              <a:defRPr sz="1600"/>
            </a:pPr>
            <a:r>
              <a:t>[Medium] Loss-Making Transaction Risk: The presence of significant negative outliers (min profit -72.50) suggests that certain transactions are being subsidized by the rest of the portfolio. Implementing a 'minimum margin' guardrail is essential, as the current 11.00% average discount is failing to prevent value-destructive sales.</a:t>
            </a:r>
          </a:p>
          <a:p>
            <a:pPr>
              <a:defRPr sz="1600"/>
            </a:pPr>
            <a:r>
              <a:t>[Medium] Category and Regional Concentration: The business has a high dependency on the Technology category and the West/North regions. While Technology drives volume, the overall 8.14% margin suggests that the portfolio needs diversification into higher-margin Office Supplies or Furniture segments to mitigate regional economic risks.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Root Cause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#1 Aggressive and Inefficient Discounting Strategy: Strong negative correlation (-0.5765) between profit and discount, coupled with a positive correlation (0.5976) between sales and discount, indicating volume is bought at the expense of margin.</a:t>
            </a:r>
          </a:p>
          <a:p>
            <a:pPr>
              <a:defRPr sz="1600"/>
            </a:pPr>
            <a:r>
              <a:t>#2 Market Share Loss or Product-Market Fit Failure: Overall sales growth of -76.55% over the analyzed period with a steep negative slope of -19.36.</a:t>
            </a:r>
          </a:p>
          <a:p>
            <a:pPr>
              <a:defRPr sz="1600"/>
            </a:pPr>
            <a:r>
              <a:t>#3 Over-investment in High-Value Low-Margin SKUs: Near-zero correlation (-0.0594) between sales and profit; high Average Order Value (641.50) yields disproportionately low Profit per Order (52.20).</a:t>
            </a:r>
          </a:p>
          <a:p>
            <a:pPr>
              <a:defRPr sz="1600"/>
            </a:pPr>
            <a:r>
              <a:t>#4 Absence of Minimum Margin Guardrails: Significant negative profit outliers reaching -72.50, indicating that loss-making sales are actively subsidizing the portfolio.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&amp; Tactical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[Strategic] Margin-First Growth Pivot: Shift corporate incentive structures from gross sales volume to net profit margin targets to counteract the -76.55% revenue contraction with quality earnings. -&gt; 12% to 18% increase in Net Profit Margin Percentage within 12 months.</a:t>
            </a:r>
          </a:p>
          <a:p>
            <a:pPr>
              <a:defRPr sz="1600"/>
            </a:pPr>
            <a:r>
              <a:t>[Tactical] Dynamic Discounting Guardrails: Implement a tiered discount approval matrix that caps automated discounts at 5% for any SKU with a historical margin below 10%. -&gt; 20% to 30% reduction in profit erosion caused by promotional activities.</a:t>
            </a:r>
          </a:p>
          <a:p>
            <a:pPr>
              <a:defRPr sz="1600"/>
            </a:pPr>
            <a:r>
              <a:t>[Immediate] Loss-Making Transaction Audit: Identify and flag all transactions with negative profit (down to -72.50) for immediate manual review and root cause analysis of pricing errors. -&gt; 5% to 8% immediate lift in Average Profit per Order by eliminating value-destructive sales.</a:t>
            </a:r>
          </a:p>
          <a:p>
            <a:pPr>
              <a:defRPr sz="1600"/>
            </a:pPr>
            <a:r>
              <a:t>[Strategic] Portfolio Diversification Program: Reduce dependency on the Technology category (50% volume) by expanding the Office Supplies and Furniture segments through targeted marketing in the West and North regions. -&gt; 15% reduction in regional economic risk and improved portfolio-wide margin stability.</a:t>
            </a:r>
          </a:p>
          <a:p>
            <a:pPr>
              <a:defRPr sz="1600"/>
            </a:pPr>
            <a:r>
              <a:t>[Tactical] SKU Rationalization and Repricing: Conduct a profitability audit on high-value SKUs (AOV 641.50) to identify items with near-zero profit correlation and adjust list prices or discontinue low-performers. -&gt; 10% to 15% improvement in operational efficiency and capital allocation.</a:t>
            </a:r>
          </a:p>
          <a:p>
            <a:pPr>
              <a:defRPr sz="1600"/>
            </a:pPr>
            <a:r>
              <a:t>[Immediate] Customer Segment Profitability Review: Analyze the 'Consumer' vs 'Corporate' segments to identify which group is driving the 11% average discount and adjust loyalty program terms accordingly. -&gt; Immediate identification of high-cost customer segments to optimize marketing spend.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